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9" r:id="rId8"/>
    <p:sldId id="261" r:id="rId9"/>
    <p:sldId id="262" r:id="rId10"/>
    <p:sldId id="268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C0CCA-DC78-4BDD-9116-B9661063527A}" v="15" dt="2026-01-26T22:04:29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 Garcia" userId="52698913-8803-44d0-b81a-d207944fdb38" providerId="ADAL" clId="{2E18606C-B16D-48DE-A10F-40DC70145920}"/>
    <pc:docChg chg="undo custSel addSld delSld modSld modMainMaster">
      <pc:chgData name="William R Garcia" userId="52698913-8803-44d0-b81a-d207944fdb38" providerId="ADAL" clId="{2E18606C-B16D-48DE-A10F-40DC70145920}" dt="2026-01-26T22:05:04.807" v="276" actId="14100"/>
      <pc:docMkLst>
        <pc:docMk/>
      </pc:docMkLst>
      <pc:sldChg chg="addSp delSp modSp mod setBg addAnim delAnim setClrOvrMap">
        <pc:chgData name="William R Garcia" userId="52698913-8803-44d0-b81a-d207944fdb38" providerId="ADAL" clId="{2E18606C-B16D-48DE-A10F-40DC70145920}" dt="2026-01-26T20:27:28.923" v="229" actId="26606"/>
        <pc:sldMkLst>
          <pc:docMk/>
          <pc:sldMk cId="0" sldId="256"/>
        </pc:sldMkLst>
        <pc:spChg chg="mod">
          <ac:chgData name="William R Garcia" userId="52698913-8803-44d0-b81a-d207944fdb38" providerId="ADAL" clId="{2E18606C-B16D-48DE-A10F-40DC70145920}" dt="2026-01-26T20:27:28.923" v="229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7:28.923" v="229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William R Garcia" userId="52698913-8803-44d0-b81a-d207944fdb38" providerId="ADAL" clId="{2E18606C-B16D-48DE-A10F-40DC70145920}" dt="2026-01-26T20:27:28.923" v="229" actId="26606"/>
          <ac:spMkLst>
            <pc:docMk/>
            <pc:sldMk cId="0" sldId="256"/>
            <ac:spMk id="9" creationId="{71B2258F-86CA-4D4D-8270-BC05FCDEBFB3}"/>
          </ac:spMkLst>
        </pc:spChg>
        <pc:picChg chg="add del">
          <ac:chgData name="William R Garcia" userId="52698913-8803-44d0-b81a-d207944fdb38" providerId="ADAL" clId="{2E18606C-B16D-48DE-A10F-40DC70145920}" dt="2026-01-26T20:27:28.923" v="229" actId="26606"/>
          <ac:picMkLst>
            <pc:docMk/>
            <pc:sldMk cId="0" sldId="256"/>
            <ac:picMk id="5" creationId="{38AAB311-2CA0-A140-B1C5-768B00FB4B1C}"/>
          </ac:picMkLst>
        </pc:pic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57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57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58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58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 setBg">
        <pc:chgData name="William R Garcia" userId="52698913-8803-44d0-b81a-d207944fdb38" providerId="ADAL" clId="{2E18606C-B16D-48DE-A10F-40DC70145920}" dt="2026-01-26T20:27:27.854" v="228" actId="26606"/>
        <pc:sldMkLst>
          <pc:docMk/>
          <pc:sldMk cId="0" sldId="259"/>
        </pc:sldMkLst>
        <pc:spChg chg="mod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William R Garcia" userId="52698913-8803-44d0-b81a-d207944fdb38" providerId="ADAL" clId="{2E18606C-B16D-48DE-A10F-40DC70145920}" dt="2026-01-26T20:20:23.230" v="157" actId="22"/>
          <ac:spMkLst>
            <pc:docMk/>
            <pc:sldMk cId="0" sldId="259"/>
            <ac:spMk id="5" creationId="{45A3AA41-BB88-7BA0-375A-4DA00C0CB850}"/>
          </ac:spMkLst>
        </pc:spChg>
        <pc:spChg chg="add del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11" creationId="{F68B3F68-107C-434F-AA38-110D5EA91B85}"/>
          </ac:spMkLst>
        </pc:spChg>
        <pc:spChg chg="add del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13" creationId="{AAD0DBB9-1A4B-4391-81D4-CB19F9AB918A}"/>
          </ac:spMkLst>
        </pc:spChg>
        <pc:spChg chg="add del">
          <ac:chgData name="William R Garcia" userId="52698913-8803-44d0-b81a-d207944fdb38" providerId="ADAL" clId="{2E18606C-B16D-48DE-A10F-40DC70145920}" dt="2026-01-26T20:27:27.854" v="228" actId="26606"/>
          <ac:spMkLst>
            <pc:docMk/>
            <pc:sldMk cId="0" sldId="259"/>
            <ac:spMk id="15" creationId="{063BBA22-50EA-4C4D-BE05-F1CE4E63AA56}"/>
          </ac:spMkLst>
        </pc:spChg>
        <pc:graphicFrameChg chg="add del">
          <ac:chgData name="William R Garcia" userId="52698913-8803-44d0-b81a-d207944fdb38" providerId="ADAL" clId="{2E18606C-B16D-48DE-A10F-40DC70145920}" dt="2026-01-26T20:27:27.854" v="228" actId="26606"/>
          <ac:graphicFrameMkLst>
            <pc:docMk/>
            <pc:sldMk cId="0" sldId="259"/>
            <ac:graphicFrameMk id="6" creationId="{DC4BE076-23DD-798E-1C31-24E56305E116}"/>
          </ac:graphicFrameMkLst>
        </pc:graphicFrame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0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0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 setBg setClrOvrMap">
        <pc:chgData name="William R Garcia" userId="52698913-8803-44d0-b81a-d207944fdb38" providerId="ADAL" clId="{2E18606C-B16D-48DE-A10F-40DC70145920}" dt="2026-01-26T20:26:47.009" v="223"/>
        <pc:sldMkLst>
          <pc:docMk/>
          <pc:sldMk cId="0" sldId="261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William R Garcia" userId="52698913-8803-44d0-b81a-d207944fdb38" providerId="ADAL" clId="{2E18606C-B16D-48DE-A10F-40DC70145920}" dt="2026-01-26T20:26:33.143" v="218" actId="26606"/>
          <ac:spMkLst>
            <pc:docMk/>
            <pc:sldMk cId="0" sldId="261"/>
            <ac:spMk id="9" creationId="{F92989FB-1024-49B7-BDF1-B3CE27D48623}"/>
          </ac:spMkLst>
        </pc:spChg>
        <pc:spChg chg="add del">
          <ac:chgData name="William R Garcia" userId="52698913-8803-44d0-b81a-d207944fdb38" providerId="ADAL" clId="{2E18606C-B16D-48DE-A10F-40DC70145920}" dt="2026-01-26T20:26:33.143" v="218" actId="26606"/>
          <ac:spMkLst>
            <pc:docMk/>
            <pc:sldMk cId="0" sldId="261"/>
            <ac:spMk id="11" creationId="{DFEE959E-BF10-4204-9556-D1707088D445}"/>
          </ac:spMkLst>
        </pc:spChg>
        <pc:spChg chg="add del">
          <ac:chgData name="William R Garcia" userId="52698913-8803-44d0-b81a-d207944fdb38" providerId="ADAL" clId="{2E18606C-B16D-48DE-A10F-40DC70145920}" dt="2026-01-26T20:26:33.143" v="218" actId="26606"/>
          <ac:spMkLst>
            <pc:docMk/>
            <pc:sldMk cId="0" sldId="261"/>
            <ac:spMk id="13" creationId="{DDD17B6A-CB37-4005-9681-A20AFCDC7822}"/>
          </ac:spMkLst>
        </pc:spChg>
        <pc:spChg chg="add del">
          <ac:chgData name="William R Garcia" userId="52698913-8803-44d0-b81a-d207944fdb38" providerId="ADAL" clId="{2E18606C-B16D-48DE-A10F-40DC70145920}" dt="2026-01-26T20:26:33.143" v="218" actId="26606"/>
          <ac:spMkLst>
            <pc:docMk/>
            <pc:sldMk cId="0" sldId="261"/>
            <ac:spMk id="15" creationId="{3B7BBDE9-DAED-40B0-A640-503C918D1CE3}"/>
          </ac:spMkLst>
        </pc:spChg>
        <pc:spChg chg="add del">
          <ac:chgData name="William R Garcia" userId="52698913-8803-44d0-b81a-d207944fdb38" providerId="ADAL" clId="{2E18606C-B16D-48DE-A10F-40DC70145920}" dt="2026-01-26T20:26:33.143" v="218" actId="26606"/>
          <ac:spMkLst>
            <pc:docMk/>
            <pc:sldMk cId="0" sldId="261"/>
            <ac:spMk id="17" creationId="{7BC7EA7B-802E-41F4-8926-C4475287AA31}"/>
          </ac:spMkLst>
        </pc:spChg>
        <pc:graphicFrameChg chg="add del">
          <ac:chgData name="William R Garcia" userId="52698913-8803-44d0-b81a-d207944fdb38" providerId="ADAL" clId="{2E18606C-B16D-48DE-A10F-40DC70145920}" dt="2026-01-26T20:26:33.143" v="218" actId="26606"/>
          <ac:graphicFrameMkLst>
            <pc:docMk/>
            <pc:sldMk cId="0" sldId="261"/>
            <ac:graphicFrameMk id="5" creationId="{EBA61793-E60E-3C70-BF37-20F68A5894E1}"/>
          </ac:graphicFrameMkLst>
        </pc:graphicFrameChg>
        <pc:graphicFrameChg chg="add del">
          <ac:chgData name="William R Garcia" userId="52698913-8803-44d0-b81a-d207944fdb38" providerId="ADAL" clId="{2E18606C-B16D-48DE-A10F-40DC70145920}" dt="2026-01-26T20:26:44.789" v="220" actId="26606"/>
          <ac:graphicFrameMkLst>
            <pc:docMk/>
            <pc:sldMk cId="0" sldId="261"/>
            <ac:graphicFrameMk id="19" creationId="{5736C0D9-D6E2-4FB7-EC12-5152893C09C9}"/>
          </ac:graphicFrameMkLst>
        </pc:graphicFrame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2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2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3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3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4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4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5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5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William R Garcia" userId="52698913-8803-44d0-b81a-d207944fdb38" providerId="ADAL" clId="{2E18606C-B16D-48DE-A10F-40DC70145920}" dt="2026-01-26T20:26:47.009" v="223"/>
        <pc:sldMkLst>
          <pc:docMk/>
          <pc:sldMk cId="0" sldId="266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6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mod">
        <pc:chgData name="William R Garcia" userId="52698913-8803-44d0-b81a-d207944fdb38" providerId="ADAL" clId="{2E18606C-B16D-48DE-A10F-40DC70145920}" dt="2026-01-26T20:26:47.009" v="223"/>
        <pc:sldMkLst>
          <pc:docMk/>
          <pc:sldMk cId="3076666292" sldId="267"/>
        </pc:sldMkLst>
        <pc:spChg chg="mod">
          <ac:chgData name="William R Garcia" userId="52698913-8803-44d0-b81a-d207944fdb38" providerId="ADAL" clId="{2E18606C-B16D-48DE-A10F-40DC70145920}" dt="2026-01-26T20:26:47.009" v="223"/>
          <ac:spMkLst>
            <pc:docMk/>
            <pc:sldMk cId="3076666292" sldId="267"/>
            <ac:spMk id="2" creationId="{537BB55D-4A05-8D2E-171F-85A2E01E236B}"/>
          </ac:spMkLst>
        </pc:spChg>
        <pc:spChg chg="del">
          <ac:chgData name="William R Garcia" userId="52698913-8803-44d0-b81a-d207944fdb38" providerId="ADAL" clId="{2E18606C-B16D-48DE-A10F-40DC70145920}" dt="2026-01-26T20:20:27.272" v="159" actId="478"/>
          <ac:spMkLst>
            <pc:docMk/>
            <pc:sldMk cId="3076666292" sldId="267"/>
            <ac:spMk id="3" creationId="{0E233682-7EE6-6270-E0EC-D99C8BD57A6E}"/>
          </ac:spMkLst>
        </pc:spChg>
        <pc:spChg chg="add del mod">
          <ac:chgData name="William R Garcia" userId="52698913-8803-44d0-b81a-d207944fdb38" providerId="ADAL" clId="{2E18606C-B16D-48DE-A10F-40DC70145920}" dt="2026-01-26T20:20:49.034" v="160" actId="22"/>
          <ac:spMkLst>
            <pc:docMk/>
            <pc:sldMk cId="3076666292" sldId="267"/>
            <ac:spMk id="5" creationId="{3A300CD4-80A8-3790-E5B6-D0675421B495}"/>
          </ac:spMkLst>
        </pc:spChg>
        <pc:spChg chg="add mod">
          <ac:chgData name="William R Garcia" userId="52698913-8803-44d0-b81a-d207944fdb38" providerId="ADAL" clId="{2E18606C-B16D-48DE-A10F-40DC70145920}" dt="2026-01-26T20:21:53.186" v="167"/>
          <ac:spMkLst>
            <pc:docMk/>
            <pc:sldMk cId="3076666292" sldId="267"/>
            <ac:spMk id="9" creationId="{C438435A-0925-0257-6E13-26C934CB611F}"/>
          </ac:spMkLst>
        </pc:spChg>
        <pc:picChg chg="add mod ord">
          <ac:chgData name="William R Garcia" userId="52698913-8803-44d0-b81a-d207944fdb38" providerId="ADAL" clId="{2E18606C-B16D-48DE-A10F-40DC70145920}" dt="2026-01-26T20:21:23.201" v="164" actId="1076"/>
          <ac:picMkLst>
            <pc:docMk/>
            <pc:sldMk cId="3076666292" sldId="267"/>
            <ac:picMk id="7" creationId="{F68E77CE-356A-EF3B-988D-5ADA3F97CFFC}"/>
          </ac:picMkLst>
        </pc:picChg>
      </pc:sldChg>
      <pc:sldChg chg="addSp delSp modSp add mod setBg">
        <pc:chgData name="William R Garcia" userId="52698913-8803-44d0-b81a-d207944fdb38" providerId="ADAL" clId="{2E18606C-B16D-48DE-A10F-40DC70145920}" dt="2026-01-26T22:04:00.802" v="266" actId="14100"/>
        <pc:sldMkLst>
          <pc:docMk/>
          <pc:sldMk cId="2477273539" sldId="268"/>
        </pc:sldMkLst>
        <pc:spChg chg="mod">
          <ac:chgData name="William R Garcia" userId="52698913-8803-44d0-b81a-d207944fdb38" providerId="ADAL" clId="{2E18606C-B16D-48DE-A10F-40DC70145920}" dt="2026-01-26T22:03:48.838" v="263" actId="20577"/>
          <ac:spMkLst>
            <pc:docMk/>
            <pc:sldMk cId="2477273539" sldId="268"/>
            <ac:spMk id="2" creationId="{320C4193-8E28-08AC-3564-29AC459C87DE}"/>
          </ac:spMkLst>
        </pc:spChg>
        <pc:spChg chg="del">
          <ac:chgData name="William R Garcia" userId="52698913-8803-44d0-b81a-d207944fdb38" providerId="ADAL" clId="{2E18606C-B16D-48DE-A10F-40DC70145920}" dt="2026-01-26T20:38:21.962" v="231" actId="478"/>
          <ac:spMkLst>
            <pc:docMk/>
            <pc:sldMk cId="2477273539" sldId="268"/>
            <ac:spMk id="3" creationId="{4DA5EF70-D66B-9107-F425-9A2300E1B1FE}"/>
          </ac:spMkLst>
        </pc:spChg>
        <pc:spChg chg="add del mod">
          <ac:chgData name="William R Garcia" userId="52698913-8803-44d0-b81a-d207944fdb38" providerId="ADAL" clId="{2E18606C-B16D-48DE-A10F-40DC70145920}" dt="2026-01-26T20:39:30.037" v="234"/>
          <ac:spMkLst>
            <pc:docMk/>
            <pc:sldMk cId="2477273539" sldId="268"/>
            <ac:spMk id="5" creationId="{5E2F486B-B4AC-56E4-F01E-431BB0468324}"/>
          </ac:spMkLst>
        </pc:spChg>
        <pc:spChg chg="add del">
          <ac:chgData name="William R Garcia" userId="52698913-8803-44d0-b81a-d207944fdb38" providerId="ADAL" clId="{2E18606C-B16D-48DE-A10F-40DC70145920}" dt="2026-01-26T20:39:54.330" v="236" actId="26606"/>
          <ac:spMkLst>
            <pc:docMk/>
            <pc:sldMk cId="2477273539" sldId="268"/>
            <ac:spMk id="11" creationId="{A4AC5506-6312-4701-8D3C-40187889A947}"/>
          </ac:spMkLst>
        </pc:spChg>
        <pc:graphicFrameChg chg="add mod modGraphic">
          <ac:chgData name="William R Garcia" userId="52698913-8803-44d0-b81a-d207944fdb38" providerId="ADAL" clId="{2E18606C-B16D-48DE-A10F-40DC70145920}" dt="2026-01-26T22:04:00.802" v="266" actId="14100"/>
          <ac:graphicFrameMkLst>
            <pc:docMk/>
            <pc:sldMk cId="2477273539" sldId="268"/>
            <ac:graphicFrameMk id="6" creationId="{1FA9D294-F390-6A6A-DFB9-1F7A1BD75B79}"/>
          </ac:graphicFrameMkLst>
        </pc:graphicFrameChg>
      </pc:sldChg>
      <pc:sldChg chg="add del">
        <pc:chgData name="William R Garcia" userId="52698913-8803-44d0-b81a-d207944fdb38" providerId="ADAL" clId="{2E18606C-B16D-48DE-A10F-40DC70145920}" dt="2026-01-26T20:38:24.253" v="233"/>
        <pc:sldMkLst>
          <pc:docMk/>
          <pc:sldMk cId="376756276" sldId="269"/>
        </pc:sldMkLst>
      </pc:sldChg>
      <pc:sldChg chg="addSp delSp modSp add mod">
        <pc:chgData name="William R Garcia" userId="52698913-8803-44d0-b81a-d207944fdb38" providerId="ADAL" clId="{2E18606C-B16D-48DE-A10F-40DC70145920}" dt="2026-01-26T22:05:04.807" v="276" actId="14100"/>
        <pc:sldMkLst>
          <pc:docMk/>
          <pc:sldMk cId="2670427088" sldId="269"/>
        </pc:sldMkLst>
        <pc:spChg chg="del">
          <ac:chgData name="William R Garcia" userId="52698913-8803-44d0-b81a-d207944fdb38" providerId="ADAL" clId="{2E18606C-B16D-48DE-A10F-40DC70145920}" dt="2026-01-26T22:04:32.977" v="268" actId="478"/>
          <ac:spMkLst>
            <pc:docMk/>
            <pc:sldMk cId="2670427088" sldId="269"/>
            <ac:spMk id="3" creationId="{978C6E74-5C2B-8F38-E762-5FC354D875CE}"/>
          </ac:spMkLst>
        </pc:spChg>
        <pc:spChg chg="add del mod">
          <ac:chgData name="William R Garcia" userId="52698913-8803-44d0-b81a-d207944fdb38" providerId="ADAL" clId="{2E18606C-B16D-48DE-A10F-40DC70145920}" dt="2026-01-26T22:04:45.655" v="270" actId="478"/>
          <ac:spMkLst>
            <pc:docMk/>
            <pc:sldMk cId="2670427088" sldId="269"/>
            <ac:spMk id="5" creationId="{A3F5F94A-59AB-DEBF-28AF-669DE6C77B19}"/>
          </ac:spMkLst>
        </pc:spChg>
        <pc:picChg chg="add mod">
          <ac:chgData name="William R Garcia" userId="52698913-8803-44d0-b81a-d207944fdb38" providerId="ADAL" clId="{2E18606C-B16D-48DE-A10F-40DC70145920}" dt="2026-01-26T22:05:04.807" v="276" actId="14100"/>
          <ac:picMkLst>
            <pc:docMk/>
            <pc:sldMk cId="2670427088" sldId="269"/>
            <ac:picMk id="7" creationId="{1B3D0D9B-FC7D-5971-C334-D11E8D6EE8E5}"/>
          </ac:picMkLst>
        </pc:picChg>
      </pc:sldChg>
      <pc:sldMasterChg chg="modSp modSldLayout">
        <pc:chgData name="William R Garcia" userId="52698913-8803-44d0-b81a-d207944fdb38" providerId="ADAL" clId="{2E18606C-B16D-48DE-A10F-40DC70145920}" dt="2026-01-26T20:12:41.697" v="4"/>
        <pc:sldMasterMkLst>
          <pc:docMk/>
          <pc:sldMasterMk cId="2209977519" sldId="2147483648"/>
        </pc:sldMasterMkLst>
        <pc:spChg chg="mod">
          <ac:chgData name="William R Garcia" userId="52698913-8803-44d0-b81a-d207944fdb38" providerId="ADAL" clId="{2E18606C-B16D-48DE-A10F-40DC70145920}" dt="2026-01-26T20:12:41.697" v="4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12:41.697" v="4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12:41.697" v="4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12:41.697" v="4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William R Garcia" userId="52698913-8803-44d0-b81a-d207944fdb38" providerId="ADAL" clId="{2E18606C-B16D-48DE-A10F-40DC70145920}" dt="2026-01-26T20:12:41.697" v="4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William R Garcia" userId="52698913-8803-44d0-b81a-d207944fdb38" providerId="ADAL" clId="{2E18606C-B16D-48DE-A10F-40DC70145920}" dt="2026-01-26T20:12:41.697" v="4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William R Garcia" userId="52698913-8803-44d0-b81a-d207944fdb38" providerId="ADAL" clId="{2E18606C-B16D-48DE-A10F-40DC70145920}" dt="2026-01-26T20:12:41.697" v="4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8646"/>
            <a:ext cx="10363200" cy="1470025"/>
          </a:xfrm>
        </p:spPr>
        <p:txBody>
          <a:bodyPr/>
          <a:lstStyle/>
          <a:p>
            <a:r>
              <a:rPr lang="en-US"/>
              <a:t>Health and Economic Returns to Dietary Sodium Reduction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456754"/>
            <a:ext cx="6779342" cy="1752600"/>
          </a:xfrm>
        </p:spPr>
        <p:txBody>
          <a:bodyPr>
            <a:normAutofit/>
          </a:bodyPr>
          <a:lstStyle/>
          <a:p>
            <a:r>
              <a:rPr lang="en-US"/>
              <a:t>A national-scale cardiovascular disease modeling and benefit–cost analysis</a:t>
            </a:r>
          </a:p>
          <a:p>
            <a:r>
              <a:rPr lang="en-US"/>
              <a:t>Resolve to Save Lives (RTSL)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 and Policy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Estimate national-scale health impacts of dietary sodium reduction policies using a population CVD model.</a:t>
            </a:r>
          </a:p>
          <a:p>
            <a:r>
              <a:rPr dirty="0"/>
              <a:t>Quantify deaths</a:t>
            </a:r>
            <a:r>
              <a:rPr lang="en-US" dirty="0"/>
              <a:t> and cases (IHD,</a:t>
            </a:r>
            <a:r>
              <a:rPr dirty="0"/>
              <a:t> strokes, </a:t>
            </a:r>
            <a:r>
              <a:rPr lang="en-US" dirty="0"/>
              <a:t>hypertensive heart disease)</a:t>
            </a:r>
            <a:r>
              <a:rPr dirty="0"/>
              <a:t> and </a:t>
            </a:r>
            <a:r>
              <a:rPr dirty="0">
                <a:solidFill>
                  <a:srgbClr val="FF0000"/>
                </a:solidFill>
              </a:rPr>
              <a:t>DALYs averted</a:t>
            </a:r>
            <a:r>
              <a:rPr dirty="0"/>
              <a:t> over </a:t>
            </a:r>
            <a:r>
              <a:rPr lang="en-US" dirty="0"/>
              <a:t>2026 -2050</a:t>
            </a:r>
            <a:r>
              <a:rPr dirty="0"/>
              <a:t>.</a:t>
            </a:r>
          </a:p>
          <a:p>
            <a:r>
              <a:rPr dirty="0"/>
              <a:t>Conduct a full economic </a:t>
            </a:r>
            <a:r>
              <a:rPr dirty="0">
                <a:solidFill>
                  <a:srgbClr val="FF0000"/>
                </a:solidFill>
              </a:rPr>
              <a:t>benefit–cost analysis </a:t>
            </a:r>
            <a:r>
              <a:rPr dirty="0"/>
              <a:t>to support government decision-making.</a:t>
            </a:r>
          </a:p>
          <a:p>
            <a:r>
              <a:rPr dirty="0"/>
              <a:t>Focus on RTSL partner countries and policies </a:t>
            </a:r>
            <a:r>
              <a:rPr lang="en-US" dirty="0"/>
              <a:t>that </a:t>
            </a:r>
            <a:r>
              <a:rPr dirty="0"/>
              <a:t>governments can realistically implement.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SHAKE Strategy: Policy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WHO SHAKE provides a comprehensive framework for population-wide sodium reduction.</a:t>
            </a:r>
            <a:endParaRPr lang="en-US" dirty="0"/>
          </a:p>
          <a:p>
            <a:endParaRPr dirty="0"/>
          </a:p>
          <a:p>
            <a:r>
              <a:rPr dirty="0"/>
              <a:t>Components include </a:t>
            </a:r>
            <a:r>
              <a:rPr lang="en-US" dirty="0">
                <a:solidFill>
                  <a:srgbClr val="0070C0"/>
                </a:solidFill>
              </a:rPr>
              <a:t>S</a:t>
            </a:r>
            <a:r>
              <a:rPr dirty="0">
                <a:solidFill>
                  <a:srgbClr val="0070C0"/>
                </a:solidFill>
              </a:rPr>
              <a:t>urveillance</a:t>
            </a:r>
            <a:r>
              <a:rPr dirty="0"/>
              <a:t>, </a:t>
            </a:r>
            <a:r>
              <a:rPr lang="en-US" dirty="0">
                <a:solidFill>
                  <a:srgbClr val="0070C0"/>
                </a:solidFill>
              </a:rPr>
              <a:t>Harness Industry</a:t>
            </a:r>
            <a:r>
              <a:rPr lang="en-US" dirty="0"/>
              <a:t> (</a:t>
            </a:r>
            <a:r>
              <a:rPr dirty="0"/>
              <a:t>food reformulation</a:t>
            </a:r>
            <a:r>
              <a:rPr lang="en-US" dirty="0"/>
              <a:t>)</a:t>
            </a:r>
            <a:r>
              <a:rPr dirty="0"/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Adopt Standards </a:t>
            </a:r>
            <a:r>
              <a:rPr lang="en-US" dirty="0"/>
              <a:t>for Labelling and Marketing</a:t>
            </a:r>
            <a:r>
              <a:rPr dirty="0"/>
              <a:t> standards,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Knowledge</a:t>
            </a:r>
            <a:r>
              <a:rPr dirty="0"/>
              <a:t> </a:t>
            </a:r>
            <a:r>
              <a:rPr lang="en-US" dirty="0"/>
              <a:t>(</a:t>
            </a:r>
            <a:r>
              <a:rPr dirty="0"/>
              <a:t>consumer information</a:t>
            </a:r>
            <a:r>
              <a:rPr lang="en-US" dirty="0"/>
              <a:t>)</a:t>
            </a:r>
            <a:r>
              <a:rPr dirty="0"/>
              <a:t>, and </a:t>
            </a:r>
            <a:r>
              <a:rPr lang="en-US" dirty="0">
                <a:solidFill>
                  <a:srgbClr val="0070C0"/>
                </a:solidFill>
              </a:rPr>
              <a:t>E</a:t>
            </a:r>
            <a:r>
              <a:rPr dirty="0">
                <a:solidFill>
                  <a:srgbClr val="0070C0"/>
                </a:solidFill>
              </a:rPr>
              <a:t>nvironments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(healthier food)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/>
              <a:t>Strongest and most sustained sodium reductions occur when SHAKE components are implemented as a package.</a:t>
            </a:r>
          </a:p>
          <a:p>
            <a:endParaRPr lang="en-US" dirty="0"/>
          </a:p>
          <a:p>
            <a:r>
              <a:rPr dirty="0"/>
              <a:t>This </a:t>
            </a:r>
            <a:r>
              <a:rPr dirty="0">
                <a:solidFill>
                  <a:srgbClr val="FF0000"/>
                </a:solidFill>
              </a:rPr>
              <a:t>project explicitly models and costs realistic</a:t>
            </a:r>
            <a:r>
              <a:rPr dirty="0"/>
              <a:t> SHAKE policy bundles.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RTSL Sodium Reduction Policy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Technical assistance to governments to design and implement mandatory sodium targets for packaged foods.</a:t>
            </a:r>
            <a:endParaRPr lang="en-US" dirty="0"/>
          </a:p>
          <a:p>
            <a:endParaRPr dirty="0"/>
          </a:p>
          <a:p>
            <a:r>
              <a:rPr dirty="0"/>
              <a:t>Support for front-of-pack sodium warning labels to inform consumers and incentivize reformulation.</a:t>
            </a:r>
            <a:endParaRPr lang="en-US" dirty="0"/>
          </a:p>
          <a:p>
            <a:endParaRPr dirty="0"/>
          </a:p>
          <a:p>
            <a:r>
              <a:rPr dirty="0"/>
              <a:t>Development of nutrition standards for public food procurement in schools, hospitals, and government settings.</a:t>
            </a:r>
            <a:endParaRPr lang="en-US" dirty="0"/>
          </a:p>
          <a:p>
            <a:endParaRPr dirty="0"/>
          </a:p>
          <a:p>
            <a:r>
              <a:rPr dirty="0"/>
              <a:t>Assistance with </a:t>
            </a:r>
            <a:r>
              <a:rPr lang="en-US" dirty="0"/>
              <a:t>policy drafting, legal design, monitoring systems, and enforcement capacity.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60F6-AD5C-7944-03DF-C03EF781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B55D-4A05-8D2E-171F-85A2E01E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RTSL Sodium Reduction Policy Support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8E77CE-356A-EF3B-988D-5ADA3F97C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303" y="1417637"/>
            <a:ext cx="8171484" cy="47497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38435A-0925-0257-6E13-26C934CB611F}"/>
              </a:ext>
            </a:extLst>
          </p:cNvPr>
          <p:cNvSpPr txBox="1"/>
          <p:nvPr/>
        </p:nvSpPr>
        <p:spPr>
          <a:xfrm>
            <a:off x="324465" y="63986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https://www.nature.com/articles/s41371-021-00612-6</a:t>
            </a:r>
          </a:p>
        </p:txBody>
      </p:sp>
    </p:spTree>
    <p:extLst>
      <p:ext uri="{BB962C8B-B14F-4D97-AF65-F5344CB8AC3E}">
        <p14:creationId xmlns:p14="http://schemas.microsoft.com/office/powerpoint/2010/main" val="307666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CVD Modeling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Population cohort model linking sodium intake to blood pressure and cardiovascular outcomes.</a:t>
            </a:r>
            <a:endParaRPr lang="en-US" dirty="0"/>
          </a:p>
          <a:p>
            <a:endParaRPr dirty="0"/>
          </a:p>
          <a:p>
            <a:r>
              <a:rPr dirty="0"/>
              <a:t>Uses country-specific baseline CVD incidence, mortality, and population age structure.</a:t>
            </a:r>
            <a:endParaRPr lang="en-US" dirty="0"/>
          </a:p>
          <a:p>
            <a:endParaRPr dirty="0"/>
          </a:p>
          <a:p>
            <a:r>
              <a:rPr dirty="0"/>
              <a:t>Policy scenarios translate sodium reductions into blood pressure changes using established dose–response relationships.</a:t>
            </a:r>
            <a:endParaRPr lang="en-US" dirty="0"/>
          </a:p>
          <a:p>
            <a:endParaRPr dirty="0"/>
          </a:p>
          <a:p>
            <a:r>
              <a:rPr dirty="0"/>
              <a:t>Resulting changes in heart attacks, strokes, and CVD deaths are projected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DE89-6E96-0463-E065-D67DF9B0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3C5C-10E8-A02D-60A4-508BBF2D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CVD Modeling Engine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3D0D9B-FC7D-5971-C334-D11E8D6EE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80" y="0"/>
            <a:ext cx="9812396" cy="68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Health and Economic Benefits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Reduced sodium intake leads to fewer cardiovascular events and premature deaths.</a:t>
            </a:r>
          </a:p>
          <a:p>
            <a:r>
              <a:rPr dirty="0"/>
              <a:t>Health outcomes are summarized as deaths and </a:t>
            </a:r>
            <a:r>
              <a:rPr dirty="0">
                <a:solidFill>
                  <a:srgbClr val="FF0000"/>
                </a:solidFill>
              </a:rPr>
              <a:t>DALYs averted.</a:t>
            </a:r>
          </a:p>
          <a:p>
            <a:r>
              <a:rPr dirty="0"/>
              <a:t>Health gains are monetized using </a:t>
            </a:r>
            <a:r>
              <a:rPr lang="en-US" dirty="0"/>
              <a:t>the </a:t>
            </a:r>
            <a:r>
              <a:rPr dirty="0"/>
              <a:t>standard economic valuation of mortality risk reduction.</a:t>
            </a:r>
          </a:p>
          <a:p>
            <a:r>
              <a:rPr dirty="0">
                <a:solidFill>
                  <a:srgbClr val="FF0000"/>
                </a:solidFill>
              </a:rPr>
              <a:t>Averted health-care expenditures </a:t>
            </a:r>
            <a:r>
              <a:rPr dirty="0"/>
              <a:t>are estimated and included as additional economic benefits.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Costing the SHAKE Policy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Costs are estimated using an ingredients-based regulatory costing approach.</a:t>
            </a:r>
            <a:endParaRPr lang="en-US" dirty="0"/>
          </a:p>
          <a:p>
            <a:endParaRPr dirty="0"/>
          </a:p>
          <a:p>
            <a:r>
              <a:rPr dirty="0"/>
              <a:t>Government costs include policy design, administration, monitoring, and enforcement.</a:t>
            </a:r>
            <a:endParaRPr lang="en-US" dirty="0"/>
          </a:p>
          <a:p>
            <a:endParaRPr dirty="0"/>
          </a:p>
          <a:p>
            <a:r>
              <a:rPr dirty="0"/>
              <a:t>Industry costs include reformulation, testing, and labeling compliance, counted as real resource costs.</a:t>
            </a:r>
            <a:endParaRPr lang="en-US" dirty="0"/>
          </a:p>
          <a:p>
            <a:endParaRPr dirty="0"/>
          </a:p>
          <a:p>
            <a:r>
              <a:rPr dirty="0"/>
              <a:t>Both start-up and ongoing recurrent costs are explicitly modeled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2F03-A54A-AAE5-147C-834EF710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4193-8E28-08AC-3564-29AC459C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Costing the SHAKE Policy Package (Example)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FA9D294-F390-6A6A-DFB9-1F7A1BD75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827503"/>
              </p:ext>
            </p:extLst>
          </p:nvPr>
        </p:nvGraphicFramePr>
        <p:xfrm>
          <a:off x="609600" y="1600200"/>
          <a:ext cx="10972799" cy="516432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141473451"/>
                    </a:ext>
                  </a:extLst>
                </a:gridCol>
                <a:gridCol w="2573866">
                  <a:extLst>
                    <a:ext uri="{9D8B030D-6E8A-4147-A177-3AD203B41FA5}">
                      <a16:colId xmlns:a16="http://schemas.microsoft.com/office/drawing/2014/main" val="1487005245"/>
                    </a:ext>
                  </a:extLst>
                </a:gridCol>
                <a:gridCol w="1134533">
                  <a:extLst>
                    <a:ext uri="{9D8B030D-6E8A-4147-A177-3AD203B41FA5}">
                      <a16:colId xmlns:a16="http://schemas.microsoft.com/office/drawing/2014/main" val="476693094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3676996417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668691023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493086768"/>
                    </a:ext>
                  </a:extLst>
                </a:gridCol>
              </a:tblGrid>
              <a:tr h="456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SHAKE Component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Activity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Cost Category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Frequency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Coverage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Cost Bearer (Gov/Industry/HH)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48348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 - Surveillance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Population sodium survey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Program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Every 3–5 yrs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National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Government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20899947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 - Surveillance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Food sodium monitoring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Program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Annual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Processed foods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Government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9052824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 - Harness Industry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Set reformulation targets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Program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One-off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Key food categories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Government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8342402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 - Harness Industry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Product reformulation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Compliance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One-off + transition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Affected SKUs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Industry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7291564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 - Labeling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Front-of-pack labeling policy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Program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One-off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National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Government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024535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 - Labeling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Label changes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Compliance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One-off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Affected SKUs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Industry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3726198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 - Knowledge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Mass media campaign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Program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Annual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Population reached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Government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1056965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 - Environment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School meal standards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Program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Annual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Schools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Government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4450338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E - Environment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Institutional food reformulation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Compliance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One-off + annual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Institutions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Vendors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674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7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Web-Based Decision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All modeling and economic components are integrated into an interactive </a:t>
            </a:r>
            <a:r>
              <a:rPr dirty="0">
                <a:solidFill>
                  <a:srgbClr val="FF0000"/>
                </a:solidFill>
              </a:rPr>
              <a:t>R Shiny web application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/>
              <a:t>Users can customize country-specific inputs, policy coverage, and implementation timelines.</a:t>
            </a:r>
            <a:endParaRPr lang="en-US" dirty="0"/>
          </a:p>
          <a:p>
            <a:endParaRPr dirty="0"/>
          </a:p>
          <a:p>
            <a:r>
              <a:rPr dirty="0"/>
              <a:t>The tool enables real-time comparison of alternative policy scenarios and assumptions.</a:t>
            </a:r>
            <a:endParaRPr lang="en-US" dirty="0"/>
          </a:p>
          <a:p>
            <a:endParaRPr dirty="0"/>
          </a:p>
          <a:p>
            <a:r>
              <a:rPr dirty="0"/>
              <a:t>Designed to support evidence-based policymaking and stakeholder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Benefit–Cost Analysis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Health benefits and implementation costs are combined to estimate net present value.</a:t>
            </a:r>
            <a:endParaRPr lang="en-US" dirty="0"/>
          </a:p>
          <a:p>
            <a:endParaRPr dirty="0"/>
          </a:p>
          <a:p>
            <a:r>
              <a:rPr dirty="0"/>
              <a:t>Benefit–cost ratios and </a:t>
            </a:r>
            <a:r>
              <a:rPr dirty="0">
                <a:solidFill>
                  <a:srgbClr val="FF0000"/>
                </a:solidFill>
              </a:rPr>
              <a:t>return on investment </a:t>
            </a:r>
            <a:r>
              <a:rPr dirty="0"/>
              <a:t>are calculated for each policy scenario.</a:t>
            </a:r>
            <a:endParaRPr lang="en-US" dirty="0"/>
          </a:p>
          <a:p>
            <a:endParaRPr dirty="0"/>
          </a:p>
          <a:p>
            <a:r>
              <a:rPr dirty="0"/>
              <a:t>Results allow </a:t>
            </a:r>
            <a:r>
              <a:rPr dirty="0">
                <a:solidFill>
                  <a:srgbClr val="0070C0"/>
                </a:solidFill>
              </a:rPr>
              <a:t>comparison across individual SHAKE components </a:t>
            </a:r>
            <a:r>
              <a:rPr dirty="0"/>
              <a:t>and bundled strategies.</a:t>
            </a:r>
            <a:endParaRPr lang="en-US" dirty="0"/>
          </a:p>
          <a:p>
            <a:endParaRPr dirty="0"/>
          </a:p>
          <a:p>
            <a:r>
              <a:rPr dirty="0"/>
              <a:t>Sensitivity analyses assess robustness to key assumptions and uncertainties.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Analysis Matters for RTSL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Provides finance-ministry–ready evidence on the economic value of sodium reduction policies.</a:t>
            </a:r>
          </a:p>
          <a:p>
            <a:endParaRPr lang="en-US" dirty="0"/>
          </a:p>
          <a:p>
            <a:r>
              <a:rPr dirty="0"/>
              <a:t>Strengthens regulatory impact assessments and national investment cases.</a:t>
            </a:r>
          </a:p>
          <a:p>
            <a:endParaRPr lang="en-US" dirty="0"/>
          </a:p>
          <a:p>
            <a:r>
              <a:rPr dirty="0"/>
              <a:t>Supports prioritization of high-return noncommunicable disease prevention strategies.</a:t>
            </a:r>
            <a:endParaRPr lang="en-US" dirty="0"/>
          </a:p>
          <a:p>
            <a:endParaRPr dirty="0"/>
          </a:p>
          <a:p>
            <a:r>
              <a:rPr dirty="0"/>
              <a:t>Scalable framework applicable across multiple countries and policy contexts.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country-specific data inputs and validate assumptions with national stakeholders.</a:t>
            </a:r>
          </a:p>
          <a:p>
            <a:r>
              <a:t>Complete deployment and testing of the interactive web tool.</a:t>
            </a:r>
          </a:p>
          <a:p>
            <a:r>
              <a:t>Use results to support policy adoption, financing, and sustained implementation.</a:t>
            </a:r>
          </a:p>
          <a:p>
            <a:r>
              <a:t>Position sodium reduction as a high-return national investment in partner countries.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21</TotalTime>
  <Words>755</Words>
  <Application>Microsoft Office PowerPoint</Application>
  <PresentationFormat>Widescreen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Health and Economic Returns to Dietary Sodium Reduction</vt:lpstr>
      <vt:lpstr>Project Objective and Policy Impact</vt:lpstr>
      <vt:lpstr>WHO SHAKE Strategy: Policy Framework</vt:lpstr>
      <vt:lpstr>RTSL Sodium Reduction Policy Support</vt:lpstr>
      <vt:lpstr>RTSL Sodium Reduction Policy Support</vt:lpstr>
      <vt:lpstr>CVD Modeling Engine</vt:lpstr>
      <vt:lpstr>CVD Modeling Engine</vt:lpstr>
      <vt:lpstr>Health and Economic Benefits Estimation</vt:lpstr>
      <vt:lpstr>Costing the SHAKE Policy Package</vt:lpstr>
      <vt:lpstr>Costing the SHAKE Policy Package (Example)</vt:lpstr>
      <vt:lpstr>Integrated Web-Based Decision Tool</vt:lpstr>
      <vt:lpstr>Full Benefit–Cost Analysis Outputs</vt:lpstr>
      <vt:lpstr>Why This Analysis Matters for RTSL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R Garcia</cp:lastModifiedBy>
  <cp:revision>1</cp:revision>
  <dcterms:created xsi:type="dcterms:W3CDTF">2013-01-27T09:14:16Z</dcterms:created>
  <dcterms:modified xsi:type="dcterms:W3CDTF">2026-01-26T22:05:07Z</dcterms:modified>
  <cp:category/>
</cp:coreProperties>
</file>